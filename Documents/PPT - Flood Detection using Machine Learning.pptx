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Poppins" panose="020B0502040204020203" pitchFamily="2" charset="0"/>
      <p:regular r:id="rId22"/>
    </p:embeddedFont>
    <p:embeddedFont>
      <p:font typeface="Poppins Bold" panose="020B0604020202020204" charset="0"/>
      <p:regular r:id="rId23"/>
    </p:embeddedFont>
    <p:embeddedFont>
      <p:font typeface="Poppins Light" panose="020B0502040204020203" pitchFamily="2" charset="0"/>
      <p:regular r:id="rId24"/>
    </p:embeddedFont>
    <p:embeddedFont>
      <p:font typeface="Poppins Medium" panose="020B0502040204020203" pitchFamily="2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302" y="4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gh Kulkarni" userId="b09885da55aff431" providerId="LiveId" clId="{298C53DA-0DE2-41B0-95D7-C8A67B09E504}"/>
    <pc:docChg chg="modSld">
      <pc:chgData name="Anagh Kulkarni" userId="b09885da55aff431" providerId="LiveId" clId="{298C53DA-0DE2-41B0-95D7-C8A67B09E504}" dt="2026-01-28T03:04:52.240" v="0" actId="166"/>
      <pc:docMkLst>
        <pc:docMk/>
      </pc:docMkLst>
      <pc:sldChg chg="modSp mod">
        <pc:chgData name="Anagh Kulkarni" userId="b09885da55aff431" providerId="LiveId" clId="{298C53DA-0DE2-41B0-95D7-C8A67B09E504}" dt="2026-01-28T03:04:52.240" v="0" actId="166"/>
        <pc:sldMkLst>
          <pc:docMk/>
          <pc:sldMk cId="0" sldId="264"/>
        </pc:sldMkLst>
        <pc:spChg chg="ord">
          <ac:chgData name="Anagh Kulkarni" userId="b09885da55aff431" providerId="LiveId" clId="{298C53DA-0DE2-41B0-95D7-C8A67B09E504}" dt="2026-01-28T03:04:52.240" v="0" actId="166"/>
          <ac:spMkLst>
            <pc:docMk/>
            <pc:sldMk cId="0" sldId="264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5.jpe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1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89628" y="0"/>
            <a:ext cx="6474244" cy="10321258"/>
          </a:xfrm>
          <a:custGeom>
            <a:avLst/>
            <a:gdLst/>
            <a:ahLst/>
            <a:cxnLst/>
            <a:rect l="l" t="t" r="r" b="b"/>
            <a:pathLst>
              <a:path w="6474244" h="10321258">
                <a:moveTo>
                  <a:pt x="0" y="0"/>
                </a:moveTo>
                <a:lnTo>
                  <a:pt x="6474244" y="0"/>
                </a:lnTo>
                <a:lnTo>
                  <a:pt x="6474244" y="10321258"/>
                </a:lnTo>
                <a:lnTo>
                  <a:pt x="0" y="1032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0"/>
            <a:ext cx="945283" cy="7097955"/>
            <a:chOff x="0" y="0"/>
            <a:chExt cx="248964" cy="1869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8964" cy="1869420"/>
            </a:xfrm>
            <a:custGeom>
              <a:avLst/>
              <a:gdLst/>
              <a:ahLst/>
              <a:cxnLst/>
              <a:rect l="l" t="t" r="r" b="b"/>
              <a:pathLst>
                <a:path w="248964" h="1869420">
                  <a:moveTo>
                    <a:pt x="0" y="0"/>
                  </a:moveTo>
                  <a:lnTo>
                    <a:pt x="248964" y="0"/>
                  </a:lnTo>
                  <a:lnTo>
                    <a:pt x="248964" y="1869420"/>
                  </a:lnTo>
                  <a:lnTo>
                    <a:pt x="0" y="186942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48964" cy="192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7097955"/>
            <a:ext cx="945283" cy="3189045"/>
            <a:chOff x="0" y="0"/>
            <a:chExt cx="248964" cy="8399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8964" cy="839913"/>
            </a:xfrm>
            <a:custGeom>
              <a:avLst/>
              <a:gdLst/>
              <a:ahLst/>
              <a:cxnLst/>
              <a:rect l="l" t="t" r="r" b="b"/>
              <a:pathLst>
                <a:path w="248964" h="839913">
                  <a:moveTo>
                    <a:pt x="0" y="0"/>
                  </a:moveTo>
                  <a:lnTo>
                    <a:pt x="248964" y="0"/>
                  </a:lnTo>
                  <a:lnTo>
                    <a:pt x="248964" y="839913"/>
                  </a:lnTo>
                  <a:lnTo>
                    <a:pt x="0" y="839913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48964" cy="897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334998" y="8512390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52074" y="1745441"/>
            <a:ext cx="16635926" cy="3371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57"/>
              </a:lnSpc>
            </a:pPr>
            <a:r>
              <a:rPr lang="en-US" sz="9397" spc="61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Flood and</a:t>
            </a:r>
          </a:p>
          <a:p>
            <a:pPr algn="l">
              <a:lnSpc>
                <a:spcPts val="13157"/>
              </a:lnSpc>
              <a:spcBef>
                <a:spcPct val="0"/>
              </a:spcBef>
            </a:pPr>
            <a:r>
              <a:rPr lang="en-US" sz="9397" spc="61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Landslide Prediction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57974" y="5921266"/>
            <a:ext cx="14049918" cy="377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36"/>
              </a:lnSpc>
              <a:spcBef>
                <a:spcPct val="0"/>
              </a:spcBef>
            </a:pPr>
            <a:r>
              <a:rPr lang="en-US" sz="10597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23107" y="2893825"/>
            <a:ext cx="14757901" cy="606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Natural disasters such as landslides and floods pose significant challenges, particularly in regions with complex topography and vulnerable populations. </a:t>
            </a:r>
          </a:p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This study presents a machine learning-based approach to predict landslides and flood insecurity in susceptible areas.</a:t>
            </a:r>
          </a:p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By integrating various datasets, including historical weather patterns, dam levels, land use, weather data, and socio-economic indicators, the model aims to provide early warnings and actionable insights. </a:t>
            </a:r>
          </a:p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 models are validated using real-world data from high-risk regions, and the results demonstrate a significant improvement in prediction accuracy compared to traditional methods.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723107" y="900442"/>
            <a:ext cx="6634902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23107" y="2597965"/>
            <a:ext cx="14125961" cy="606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In recent years, the frequency and severity of natural disasters have raised significant concerns about flood security and the safety of vulnerable regions. 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Landslides, in particular, severely threaten infrastructure and human lives, especially in mountainous and hilly terrains.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 Role of Machine Learning: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Machine learning (ML) offers innovative solutions to these challenges. By leveraging large datasets and sophisticated algorithms, ML can accurately predict floods and landslide occurrences. 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These predictions allow for better preparedness and timely interventions, ultimately saving lives and resources.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723107" y="900442"/>
            <a:ext cx="6634902" cy="105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097412" y="0"/>
            <a:ext cx="4190588" cy="10287000"/>
            <a:chOff x="0" y="0"/>
            <a:chExt cx="1103694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3694" cy="2709333"/>
            </a:xfrm>
            <a:custGeom>
              <a:avLst/>
              <a:gdLst/>
              <a:ahLst/>
              <a:cxnLst/>
              <a:rect l="l" t="t" r="r" b="b"/>
              <a:pathLst>
                <a:path w="1103694" h="2709333">
                  <a:moveTo>
                    <a:pt x="0" y="0"/>
                  </a:moveTo>
                  <a:lnTo>
                    <a:pt x="1103694" y="0"/>
                  </a:lnTo>
                  <a:lnTo>
                    <a:pt x="11036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10369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3107" y="3275265"/>
            <a:ext cx="12374305" cy="5840160"/>
            <a:chOff x="0" y="0"/>
            <a:chExt cx="3259076" cy="15381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59076" cy="1538149"/>
            </a:xfrm>
            <a:custGeom>
              <a:avLst/>
              <a:gdLst/>
              <a:ahLst/>
              <a:cxnLst/>
              <a:rect l="l" t="t" r="r" b="b"/>
              <a:pathLst>
                <a:path w="3259076" h="1538149">
                  <a:moveTo>
                    <a:pt x="0" y="0"/>
                  </a:moveTo>
                  <a:lnTo>
                    <a:pt x="3259076" y="0"/>
                  </a:lnTo>
                  <a:lnTo>
                    <a:pt x="3259076" y="1538149"/>
                  </a:lnTo>
                  <a:lnTo>
                    <a:pt x="0" y="1538149"/>
                  </a:lnTo>
                  <a:close/>
                </a:path>
              </a:pathLst>
            </a:custGeom>
            <a:solidFill>
              <a:srgbClr val="D9D9D9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259076" cy="1595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837228" y="322147"/>
            <a:ext cx="5117397" cy="6074758"/>
            <a:chOff x="0" y="0"/>
            <a:chExt cx="792819" cy="9411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92819" cy="941139"/>
            </a:xfrm>
            <a:custGeom>
              <a:avLst/>
              <a:gdLst/>
              <a:ahLst/>
              <a:cxnLst/>
              <a:rect l="l" t="t" r="r" b="b"/>
              <a:pathLst>
                <a:path w="792819" h="941139">
                  <a:moveTo>
                    <a:pt x="0" y="0"/>
                  </a:moveTo>
                  <a:lnTo>
                    <a:pt x="792819" y="0"/>
                  </a:lnTo>
                  <a:lnTo>
                    <a:pt x="792819" y="941139"/>
                  </a:lnTo>
                  <a:lnTo>
                    <a:pt x="0" y="941139"/>
                  </a:lnTo>
                  <a:close/>
                </a:path>
              </a:pathLst>
            </a:custGeom>
            <a:blipFill>
              <a:blip r:embed="rId3"/>
              <a:stretch>
                <a:fillRect l="-39193" r="-39193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933250" y="3467152"/>
            <a:ext cx="10610678" cy="57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8360" lvl="1" indent="-349180" algn="just">
              <a:lnSpc>
                <a:spcPts val="4528"/>
              </a:lnSpc>
              <a:buFont typeface="Arial"/>
              <a:buChar char="•"/>
            </a:pPr>
            <a:r>
              <a:rPr lang="en-US" sz="3234" spc="2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Flood Prediction: Using machine learning to analyze factors like climate, Dam Levels, weather data, and Environment conditions to predict food shortages and ensure food security.</a:t>
            </a:r>
          </a:p>
          <a:p>
            <a:pPr marL="698360" lvl="1" indent="-349180" algn="just">
              <a:lnSpc>
                <a:spcPts val="4528"/>
              </a:lnSpc>
              <a:buFont typeface="Arial"/>
              <a:buChar char="•"/>
            </a:pPr>
            <a:r>
              <a:rPr lang="en-US" sz="3234" spc="2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Landslide Prediction: Employing machine learning models to forecast landslides by analyzing geological data, weather patterns, and topographical features.</a:t>
            </a:r>
          </a:p>
          <a:p>
            <a:pPr algn="just">
              <a:lnSpc>
                <a:spcPts val="4528"/>
              </a:lnSpc>
              <a:spcBef>
                <a:spcPct val="0"/>
              </a:spcBef>
            </a:pPr>
            <a:endParaRPr lang="en-US" sz="3234" spc="21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723107" y="900442"/>
            <a:ext cx="9324702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Focus of the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23107" y="3062188"/>
            <a:ext cx="15057542" cy="7070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Hydrological Models Integrated with Machine Learning</a:t>
            </a:r>
          </a:p>
          <a:p>
            <a:pPr algn="l">
              <a:lnSpc>
                <a:spcPts val="4037"/>
              </a:lnSpc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Hydrological models simulate the water cycle, including precipitation, runoff, infiltration, and water flow. Integrating these models with ML enhances prediction accuracy.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Remote Sensing and Satellite Data Analysis</a:t>
            </a:r>
          </a:p>
          <a:p>
            <a:pPr algn="l">
              <a:lnSpc>
                <a:spcPts val="4037"/>
              </a:lnSpc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Remote sensing technology provides critical data on land use, vegetation cover, and water bodies, which are essential for flood and landslide prediction.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Rainfall-Runoff Models</a:t>
            </a:r>
          </a:p>
          <a:p>
            <a:pPr algn="l">
              <a:lnSpc>
                <a:spcPts val="4037"/>
              </a:lnSpc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Rainfall-runoff models predict the amount of water runoff based on precipitation data, which is crucial for flood forecasting.</a:t>
            </a:r>
          </a:p>
          <a:p>
            <a:pPr algn="l">
              <a:lnSpc>
                <a:spcPts val="4037"/>
              </a:lnSpc>
            </a:pPr>
            <a:endParaRPr lang="en-US" sz="2884" spc="18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37"/>
              </a:lnSpc>
            </a:pPr>
            <a:endParaRPr lang="en-US" sz="2884" spc="18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37"/>
              </a:lnSpc>
            </a:pPr>
            <a:endParaRPr lang="en-US" sz="2884" spc="187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723107" y="900442"/>
            <a:ext cx="7793680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F3F4F5">
                <a:alpha val="1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15042" y="2855725"/>
            <a:ext cx="15265607" cy="61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1"/>
              </a:lnSpc>
            </a:pPr>
            <a:r>
              <a:rPr lang="en-US" sz="3084" spc="42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84" spc="4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Scarcity:</a:t>
            </a:r>
          </a:p>
          <a:p>
            <a:pPr algn="l">
              <a:lnSpc>
                <a:spcPts val="4441"/>
              </a:lnSpc>
            </a:pPr>
            <a:r>
              <a:rPr lang="en-US" sz="3084" spc="42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some regions, there is a lack of high-quality data, which can limit model accuracy.</a:t>
            </a:r>
          </a:p>
          <a:p>
            <a:pPr algn="l">
              <a:lnSpc>
                <a:spcPts val="4441"/>
              </a:lnSpc>
            </a:pPr>
            <a:r>
              <a:rPr lang="en-US" sz="3084" spc="42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84" spc="4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Computational Complexity:</a:t>
            </a:r>
          </a:p>
          <a:p>
            <a:pPr algn="l">
              <a:lnSpc>
                <a:spcPts val="4441"/>
              </a:lnSpc>
            </a:pPr>
            <a:r>
              <a:rPr lang="en-US" sz="3084" spc="42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Advanced models require significant computational resources.</a:t>
            </a:r>
          </a:p>
          <a:p>
            <a:pPr algn="l">
              <a:lnSpc>
                <a:spcPts val="4441"/>
              </a:lnSpc>
            </a:pPr>
            <a:r>
              <a:rPr lang="en-US" sz="3084" spc="42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84" spc="4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 Interpretability:</a:t>
            </a:r>
          </a:p>
          <a:p>
            <a:pPr algn="l">
              <a:lnSpc>
                <a:spcPts val="4441"/>
              </a:lnSpc>
            </a:pPr>
            <a:r>
              <a:rPr lang="en-US" sz="3084" spc="42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Complex models, especially deep learning ones, can be difficult to interpret, making it challenging to understand how predictions are made.</a:t>
            </a:r>
          </a:p>
          <a:p>
            <a:pPr algn="l">
              <a:lnSpc>
                <a:spcPts val="4441"/>
              </a:lnSpc>
            </a:pPr>
            <a:endParaRPr lang="en-US" sz="3084" spc="42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4606903"/>
            <a:ext cx="0" cy="371090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515042" y="911210"/>
            <a:ext cx="14479624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SYSTEM DISADVANTAGES</a:t>
            </a:r>
          </a:p>
        </p:txBody>
      </p:sp>
      <p:sp>
        <p:nvSpPr>
          <p:cNvPr id="17" name="Freeform 17"/>
          <p:cNvSpPr/>
          <p:nvPr/>
        </p:nvSpPr>
        <p:spPr>
          <a:xfrm rot="5324316">
            <a:off x="15221188" y="-3577274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6780649" y="661348"/>
            <a:ext cx="1514312" cy="1301362"/>
            <a:chOff x="0" y="0"/>
            <a:chExt cx="812800" cy="698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23107" y="3062188"/>
            <a:ext cx="14479624" cy="606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 proposed system leverages machine learning techniques to predict floods and landslides by analyzing a variety of environmental and meteorological data.</a:t>
            </a:r>
          </a:p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This system integrates data from multiple sources, including satellite imagery, rainfall patterns, topographic information, soil moisture levels, and river flow rates.</a:t>
            </a:r>
          </a:p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By applying advanced algorithms such as Convolutional Neural Networks, the system can detect complex patterns and correlations within the data that are indicative of potential flood and landslide events.</a:t>
            </a:r>
          </a:p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The predictive model is continuously trained and refined with new data to improve accuracy over time.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723107" y="900442"/>
            <a:ext cx="8337596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23107" y="3062188"/>
            <a:ext cx="14757901" cy="454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 system also includes a real-time monitoring component, which enables the rapid identification of high-risk areas and provides early warnings to relevant authorities and communities.</a:t>
            </a:r>
          </a:p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This proactive approach to disaster management aims to minimize the impact of these natural hazards, safeguarding lives and property.</a:t>
            </a:r>
          </a:p>
          <a:p>
            <a:pPr marL="622673" lvl="1" indent="-311336" algn="just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Flood and landslide prediction using machine learning involves using historical data, environmental variables, and advanced algorithms to predict the likelihood of these natural disasters.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723107" y="900442"/>
            <a:ext cx="8313948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72189" y="2420253"/>
            <a:ext cx="17923130" cy="5996781"/>
          </a:xfrm>
          <a:custGeom>
            <a:avLst/>
            <a:gdLst/>
            <a:ahLst/>
            <a:cxnLst/>
            <a:rect l="l" t="t" r="r" b="b"/>
            <a:pathLst>
              <a:path w="17923130" h="5996781">
                <a:moveTo>
                  <a:pt x="0" y="0"/>
                </a:moveTo>
                <a:lnTo>
                  <a:pt x="17923131" y="0"/>
                </a:lnTo>
                <a:lnTo>
                  <a:pt x="17923131" y="5996781"/>
                </a:lnTo>
                <a:lnTo>
                  <a:pt x="0" y="59967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723107" y="900442"/>
            <a:ext cx="8143355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</a:t>
            </a:r>
          </a:p>
        </p:txBody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61519" cy="10287000"/>
            <a:chOff x="0" y="0"/>
            <a:chExt cx="120138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1388" cy="2709333"/>
            </a:xfrm>
            <a:custGeom>
              <a:avLst/>
              <a:gdLst/>
              <a:ahLst/>
              <a:cxnLst/>
              <a:rect l="l" t="t" r="r" b="b"/>
              <a:pathLst>
                <a:path w="1201388" h="2709333">
                  <a:moveTo>
                    <a:pt x="0" y="0"/>
                  </a:moveTo>
                  <a:lnTo>
                    <a:pt x="1201388" y="0"/>
                  </a:lnTo>
                  <a:lnTo>
                    <a:pt x="12013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201388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913215"/>
            <a:ext cx="8603142" cy="8092641"/>
            <a:chOff x="0" y="0"/>
            <a:chExt cx="2265848" cy="21313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5848" cy="2131395"/>
            </a:xfrm>
            <a:custGeom>
              <a:avLst/>
              <a:gdLst/>
              <a:ahLst/>
              <a:cxnLst/>
              <a:rect l="l" t="t" r="r" b="b"/>
              <a:pathLst>
                <a:path w="2265848" h="2131395">
                  <a:moveTo>
                    <a:pt x="0" y="0"/>
                  </a:moveTo>
                  <a:lnTo>
                    <a:pt x="2265848" y="0"/>
                  </a:lnTo>
                  <a:lnTo>
                    <a:pt x="2265848" y="2131395"/>
                  </a:lnTo>
                  <a:lnTo>
                    <a:pt x="0" y="2131395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265848" cy="2188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0625" y="3247564"/>
            <a:ext cx="903979" cy="90397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31082" y="2523403"/>
            <a:ext cx="5277097" cy="7599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Meteorological Data: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Includes rainfall, temperature, humidity, and other climate-related factors.</a:t>
            </a:r>
          </a:p>
          <a:p>
            <a:pPr algn="just">
              <a:lnSpc>
                <a:spcPts val="3220"/>
              </a:lnSpc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Geographical Data: 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Terrain features, soil type, elevation, slope, and land cover.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Hydrological Data: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River flow, water levels, and soil moisture.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Historical Data: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Past occurrences of floods and landslides, including their intensity and impact.</a:t>
            </a:r>
          </a:p>
          <a:p>
            <a:pPr algn="just">
              <a:lnSpc>
                <a:spcPts val="3220"/>
              </a:lnSpc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47257" y="3373153"/>
            <a:ext cx="790715" cy="63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3545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79169" y="3247564"/>
            <a:ext cx="903979" cy="90397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635801" y="3373153"/>
            <a:ext cx="790715" cy="63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35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44018" y="2317347"/>
            <a:ext cx="5849826" cy="5999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Preprocessing:</a:t>
            </a:r>
          </a:p>
          <a:p>
            <a:pPr marL="496577" lvl="1" indent="-248289" algn="just">
              <a:lnSpc>
                <a:spcPts val="3220"/>
              </a:lnSpc>
              <a:buFont typeface="Arial"/>
              <a:buChar char="•"/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Cleaning: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Removing or correcting inaccurate data points.</a:t>
            </a:r>
          </a:p>
          <a:p>
            <a:pPr marL="496577" lvl="1" indent="-248289" algn="just">
              <a:lnSpc>
                <a:spcPts val="3220"/>
              </a:lnSpc>
              <a:buFont typeface="Arial"/>
              <a:buChar char="•"/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Normalization: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Scaling data to a common range to improve model performance.</a:t>
            </a:r>
          </a:p>
          <a:p>
            <a:pPr marL="496577" lvl="1" indent="-248289" algn="just">
              <a:lnSpc>
                <a:spcPts val="3220"/>
              </a:lnSpc>
              <a:buFont typeface="Arial"/>
              <a:buChar char="•"/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 Feature Engineering: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Creating new variables or features that may help the model understand patterns in the data better.</a:t>
            </a:r>
          </a:p>
          <a:p>
            <a:pPr algn="just">
              <a:lnSpc>
                <a:spcPts val="3220"/>
              </a:lnSpc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20"/>
              </a:lnSpc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7035619" y="9240896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 flipH="1">
            <a:off x="17514270" y="5472167"/>
            <a:ext cx="0" cy="3514512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8634131" y="9986806"/>
            <a:ext cx="7846876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5298868" y="861716"/>
            <a:ext cx="7499168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22" name="Freeform 22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61519" cy="10287000"/>
            <a:chOff x="0" y="0"/>
            <a:chExt cx="120138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1388" cy="2709333"/>
            </a:xfrm>
            <a:custGeom>
              <a:avLst/>
              <a:gdLst/>
              <a:ahLst/>
              <a:cxnLst/>
              <a:rect l="l" t="t" r="r" b="b"/>
              <a:pathLst>
                <a:path w="1201388" h="2709333">
                  <a:moveTo>
                    <a:pt x="0" y="0"/>
                  </a:moveTo>
                  <a:lnTo>
                    <a:pt x="1201388" y="0"/>
                  </a:lnTo>
                  <a:lnTo>
                    <a:pt x="12013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201388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913215"/>
            <a:ext cx="8603142" cy="8092641"/>
            <a:chOff x="0" y="0"/>
            <a:chExt cx="2265848" cy="21313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5848" cy="2131395"/>
            </a:xfrm>
            <a:custGeom>
              <a:avLst/>
              <a:gdLst/>
              <a:ahLst/>
              <a:cxnLst/>
              <a:rect l="l" t="t" r="r" b="b"/>
              <a:pathLst>
                <a:path w="2265848" h="2131395">
                  <a:moveTo>
                    <a:pt x="0" y="0"/>
                  </a:moveTo>
                  <a:lnTo>
                    <a:pt x="2265848" y="0"/>
                  </a:lnTo>
                  <a:lnTo>
                    <a:pt x="2265848" y="2131395"/>
                  </a:lnTo>
                  <a:lnTo>
                    <a:pt x="0" y="2131395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265848" cy="2188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0625" y="3247564"/>
            <a:ext cx="903979" cy="90397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31082" y="2523403"/>
            <a:ext cx="5277097" cy="719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Model Selection: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Statistical Models: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Traditional approaches like logistic regression, time series analysis, and ARIMA models are still used for certain predictions.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Learning Models: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Algorithms like Convolutional Neural Networks are trained using labeled data to predict floods and landslides.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Deep Learning Models: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Recurrent Neural Networks (RNNs) for temporal data are increasingly used.</a:t>
            </a:r>
          </a:p>
          <a:p>
            <a:pPr marL="496577" lvl="1" indent="-248289" algn="just">
              <a:lnSpc>
                <a:spcPts val="3220"/>
              </a:lnSpc>
              <a:buFont typeface="Arial"/>
              <a:buChar char="•"/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47257" y="3373153"/>
            <a:ext cx="790715" cy="63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3545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79169" y="3247564"/>
            <a:ext cx="903979" cy="90397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635801" y="3373153"/>
            <a:ext cx="790715" cy="63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35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31181" y="2523403"/>
            <a:ext cx="5849826" cy="5599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Prediction Model:</a:t>
            </a:r>
          </a:p>
          <a:p>
            <a:pPr marL="496577" lvl="1" indent="-248289" algn="just">
              <a:lnSpc>
                <a:spcPts val="3220"/>
              </a:lnSpc>
              <a:buFont typeface="Arial"/>
              <a:buChar char="•"/>
            </a:pP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Prediction: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Once trained, the model can be used to predict floods and landslides in real-time based on current data inputs.</a:t>
            </a:r>
          </a:p>
          <a:p>
            <a:pPr marL="496577" lvl="1" indent="-248289" algn="just">
              <a:lnSpc>
                <a:spcPts val="3220"/>
              </a:lnSpc>
              <a:buFont typeface="Arial"/>
              <a:buChar char="•"/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0" spc="149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Early Warning Systems:</a:t>
            </a:r>
          </a:p>
          <a:p>
            <a:pPr algn="just">
              <a:lnSpc>
                <a:spcPts val="3220"/>
              </a:lnSpc>
            </a:pPr>
            <a:r>
              <a:rPr lang="en-US" sz="2300" spc="14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These predictions are integrated into early warning systems, providing alerts to authorities and the public.</a:t>
            </a:r>
          </a:p>
          <a:p>
            <a:pPr algn="just">
              <a:lnSpc>
                <a:spcPts val="3220"/>
              </a:lnSpc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20"/>
              </a:lnSpc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300" spc="149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7035619" y="9240896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 flipH="1">
            <a:off x="17514270" y="5472167"/>
            <a:ext cx="0" cy="3514512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8634131" y="9986806"/>
            <a:ext cx="7846876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5298868" y="861716"/>
            <a:ext cx="7499168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22" name="Freeform 22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3131466" y="2135871"/>
            <a:ext cx="11705459" cy="7141479"/>
          </a:xfrm>
          <a:custGeom>
            <a:avLst/>
            <a:gdLst/>
            <a:ahLst/>
            <a:cxnLst/>
            <a:rect l="l" t="t" r="r" b="b"/>
            <a:pathLst>
              <a:path w="11705459" h="7141479">
                <a:moveTo>
                  <a:pt x="0" y="0"/>
                </a:moveTo>
                <a:lnTo>
                  <a:pt x="11705459" y="0"/>
                </a:lnTo>
                <a:lnTo>
                  <a:pt x="11705459" y="7141479"/>
                </a:lnTo>
                <a:lnTo>
                  <a:pt x="0" y="71414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723107" y="900442"/>
            <a:ext cx="9940644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SEQUENCE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5500481" y="2600455"/>
            <a:ext cx="6808388" cy="6676895"/>
          </a:xfrm>
          <a:custGeom>
            <a:avLst/>
            <a:gdLst/>
            <a:ahLst/>
            <a:cxnLst/>
            <a:rect l="l" t="t" r="r" b="b"/>
            <a:pathLst>
              <a:path w="6808388" h="6676895">
                <a:moveTo>
                  <a:pt x="0" y="0"/>
                </a:moveTo>
                <a:lnTo>
                  <a:pt x="6808387" y="0"/>
                </a:lnTo>
                <a:lnTo>
                  <a:pt x="6808387" y="6676895"/>
                </a:lnTo>
                <a:lnTo>
                  <a:pt x="0" y="66768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723107" y="900442"/>
            <a:ext cx="8143355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CLASS DIAGRAM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6509772" y="1987997"/>
            <a:ext cx="6088314" cy="7289353"/>
          </a:xfrm>
          <a:custGeom>
            <a:avLst/>
            <a:gdLst/>
            <a:ahLst/>
            <a:cxnLst/>
            <a:rect l="l" t="t" r="r" b="b"/>
            <a:pathLst>
              <a:path w="6088314" h="7289353">
                <a:moveTo>
                  <a:pt x="0" y="0"/>
                </a:moveTo>
                <a:lnTo>
                  <a:pt x="6088315" y="0"/>
                </a:lnTo>
                <a:lnTo>
                  <a:pt x="6088315" y="7289353"/>
                </a:lnTo>
                <a:lnTo>
                  <a:pt x="0" y="72893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5883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723107" y="900442"/>
            <a:ext cx="8143355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ACTIVITY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6165690" y="2110502"/>
            <a:ext cx="5956620" cy="7662148"/>
          </a:xfrm>
          <a:custGeom>
            <a:avLst/>
            <a:gdLst/>
            <a:ahLst/>
            <a:cxnLst/>
            <a:rect l="l" t="t" r="r" b="b"/>
            <a:pathLst>
              <a:path w="5956620" h="7662148">
                <a:moveTo>
                  <a:pt x="0" y="0"/>
                </a:moveTo>
                <a:lnTo>
                  <a:pt x="5956620" y="0"/>
                </a:lnTo>
                <a:lnTo>
                  <a:pt x="5956620" y="7662148"/>
                </a:lnTo>
                <a:lnTo>
                  <a:pt x="0" y="76621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723107" y="900442"/>
            <a:ext cx="8143355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 DIAGRAM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408296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9144000" y="9277350"/>
            <a:ext cx="705873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41" y="1434263"/>
            <a:ext cx="8094208" cy="8610186"/>
          </a:xfrm>
          <a:prstGeom prst="rect">
            <a:avLst/>
          </a:prstGeom>
        </p:spPr>
      </p:pic>
      <p:sp>
        <p:nvSpPr>
          <p:cNvPr id="10" name="Freeform 10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387756" y="3297037"/>
            <a:ext cx="7623254" cy="3714672"/>
          </a:xfrm>
          <a:custGeom>
            <a:avLst/>
            <a:gdLst/>
            <a:ahLst/>
            <a:cxnLst/>
            <a:rect l="l" t="t" r="r" b="b"/>
            <a:pathLst>
              <a:path w="7623254" h="3714672">
                <a:moveTo>
                  <a:pt x="0" y="0"/>
                </a:moveTo>
                <a:lnTo>
                  <a:pt x="7623254" y="0"/>
                </a:lnTo>
                <a:lnTo>
                  <a:pt x="7623254" y="3714672"/>
                </a:lnTo>
                <a:lnTo>
                  <a:pt x="0" y="37146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932" r="-4512" b="-193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10392" y="866775"/>
            <a:ext cx="3520279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23107" y="3062188"/>
            <a:ext cx="11950297" cy="660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2884" spc="187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REQUIREMENTS: 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Light"/>
                <a:ea typeface="Poppins Light"/>
                <a:cs typeface="Poppins Light"/>
                <a:sym typeface="Poppins Light"/>
              </a:rPr>
              <a:t>System : Intel i3 Processor Mimimum.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Light"/>
                <a:ea typeface="Poppins Light"/>
                <a:cs typeface="Poppins Light"/>
                <a:sym typeface="Poppins Light"/>
              </a:rPr>
              <a:t>Hard Disk : 20 GB Space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Monitor : 15’’ LED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Light"/>
                <a:ea typeface="Poppins Light"/>
                <a:cs typeface="Poppins Light"/>
                <a:sym typeface="Poppins Light"/>
              </a:rPr>
              <a:t>Input Devices : Keyboard, Mouse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Light"/>
                <a:ea typeface="Poppins Light"/>
                <a:cs typeface="Poppins Light"/>
                <a:sym typeface="Poppins Light"/>
              </a:rPr>
              <a:t>Ram : 4 GB</a:t>
            </a:r>
          </a:p>
          <a:p>
            <a:pPr algn="l">
              <a:lnSpc>
                <a:spcPts val="4037"/>
              </a:lnSpc>
            </a:pPr>
            <a:r>
              <a:rPr lang="en-US" sz="2884" spc="187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REQUIREMENTS: 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Light"/>
                <a:ea typeface="Poppins Light"/>
                <a:cs typeface="Poppins Light"/>
                <a:sym typeface="Poppins Light"/>
              </a:rPr>
              <a:t>Operating system : Windows, Mac OS.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Coding Language : Python, HTML, CSS,JS</a:t>
            </a:r>
          </a:p>
          <a:p>
            <a:pPr marL="622673" lvl="1" indent="-311336" algn="l">
              <a:lnSpc>
                <a:spcPts val="4037"/>
              </a:lnSpc>
              <a:buFont typeface="Arial"/>
              <a:buChar char="•"/>
            </a:pPr>
            <a:r>
              <a:rPr lang="en-US" sz="2884" spc="187">
                <a:solidFill>
                  <a:srgbClr val="222222"/>
                </a:solidFill>
                <a:latin typeface="Poppins Light"/>
                <a:ea typeface="Poppins Light"/>
                <a:cs typeface="Poppins Light"/>
                <a:sym typeface="Poppins Light"/>
              </a:rPr>
              <a:t>Web Framework : Flask</a:t>
            </a:r>
          </a:p>
          <a:p>
            <a:pPr algn="l">
              <a:lnSpc>
                <a:spcPts val="4037"/>
              </a:lnSpc>
            </a:pPr>
            <a:endParaRPr lang="en-US" sz="2884" spc="187">
              <a:solidFill>
                <a:srgbClr val="22222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l">
              <a:lnSpc>
                <a:spcPts val="4037"/>
              </a:lnSpc>
            </a:pPr>
            <a:endParaRPr lang="en-US" sz="2884" spc="187">
              <a:solidFill>
                <a:srgbClr val="22222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l">
              <a:lnSpc>
                <a:spcPts val="4037"/>
              </a:lnSpc>
              <a:spcBef>
                <a:spcPct val="0"/>
              </a:spcBef>
            </a:pPr>
            <a:endParaRPr lang="en-US" sz="2884" spc="187">
              <a:solidFill>
                <a:srgbClr val="22222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15229" y="645616"/>
            <a:ext cx="15057542" cy="208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SOFTWARE REQUIREMENTS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880002"/>
            <a:ext cx="18288000" cy="4406998"/>
            <a:chOff x="0" y="0"/>
            <a:chExt cx="4816593" cy="11606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160691"/>
            </a:xfrm>
            <a:custGeom>
              <a:avLst/>
              <a:gdLst/>
              <a:ahLst/>
              <a:cxnLst/>
              <a:rect l="l" t="t" r="r" b="b"/>
              <a:pathLst>
                <a:path w="4816592" h="1160691">
                  <a:moveTo>
                    <a:pt x="0" y="0"/>
                  </a:moveTo>
                  <a:lnTo>
                    <a:pt x="4816592" y="0"/>
                  </a:lnTo>
                  <a:lnTo>
                    <a:pt x="4816592" y="1160691"/>
                  </a:lnTo>
                  <a:lnTo>
                    <a:pt x="0" y="1160691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16593" cy="1217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81613" y="2725415"/>
            <a:ext cx="15337612" cy="6771141"/>
            <a:chOff x="0" y="0"/>
            <a:chExt cx="4039536" cy="17833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39536" cy="1783346"/>
            </a:xfrm>
            <a:custGeom>
              <a:avLst/>
              <a:gdLst/>
              <a:ahLst/>
              <a:cxnLst/>
              <a:rect l="l" t="t" r="r" b="b"/>
              <a:pathLst>
                <a:path w="4039536" h="1783346">
                  <a:moveTo>
                    <a:pt x="0" y="0"/>
                  </a:moveTo>
                  <a:lnTo>
                    <a:pt x="4039536" y="0"/>
                  </a:lnTo>
                  <a:lnTo>
                    <a:pt x="4039536" y="1783346"/>
                  </a:lnTo>
                  <a:lnTo>
                    <a:pt x="0" y="1783346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039536" cy="1840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44226" y="2947888"/>
            <a:ext cx="12999548" cy="617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4" lvl="1" indent="-313057" algn="just">
              <a:lnSpc>
                <a:spcPts val="4060"/>
              </a:lnSpc>
              <a:buFont typeface="Arial"/>
              <a:buChar char="•"/>
            </a:pPr>
            <a:r>
              <a:rPr lang="en-US" sz="2900" spc="1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conclusion, the integration of CNN Algorithm in flood and landslide prediction represents a significant advancement in our ability to anticipate and mitigate the impacts of these natural disasters.</a:t>
            </a:r>
          </a:p>
          <a:p>
            <a:pPr marL="626114" lvl="1" indent="-313057" algn="just">
              <a:lnSpc>
                <a:spcPts val="4060"/>
              </a:lnSpc>
              <a:buFont typeface="Arial"/>
              <a:buChar char="•"/>
            </a:pPr>
            <a:r>
              <a:rPr lang="en-US" sz="2900" spc="1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By leveraging vast datasets, including historical weather patterns, topography, and soil conditions, machine learning models can provide accurate and timely predictions, enabling better preparedness and response. </a:t>
            </a:r>
          </a:p>
          <a:p>
            <a:pPr marL="626114" lvl="1" indent="-313057" algn="just">
              <a:lnSpc>
                <a:spcPts val="4060"/>
              </a:lnSpc>
              <a:buFont typeface="Arial"/>
              <a:buChar char="•"/>
            </a:pPr>
            <a:r>
              <a:rPr lang="en-US" sz="2900" spc="1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 technology continues to evolve, the accuracy and efficiency of these models will only improve, offering hope for more resilient communities in the face of increasingly unpredictable environmental challenges. </a:t>
            </a:r>
          </a:p>
        </p:txBody>
      </p:sp>
      <p:sp>
        <p:nvSpPr>
          <p:cNvPr id="10" name="Freeform 10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048508" y="866775"/>
            <a:ext cx="6190983" cy="105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880002"/>
            <a:ext cx="18288000" cy="4406998"/>
            <a:chOff x="0" y="0"/>
            <a:chExt cx="4816593" cy="11606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160691"/>
            </a:xfrm>
            <a:custGeom>
              <a:avLst/>
              <a:gdLst/>
              <a:ahLst/>
              <a:cxnLst/>
              <a:rect l="l" t="t" r="r" b="b"/>
              <a:pathLst>
                <a:path w="4816592" h="1160691">
                  <a:moveTo>
                    <a:pt x="0" y="0"/>
                  </a:moveTo>
                  <a:lnTo>
                    <a:pt x="4816592" y="0"/>
                  </a:lnTo>
                  <a:lnTo>
                    <a:pt x="4816592" y="1160691"/>
                  </a:lnTo>
                  <a:lnTo>
                    <a:pt x="0" y="1160691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16593" cy="1217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2157" y="1473487"/>
            <a:ext cx="17123163" cy="8448742"/>
            <a:chOff x="0" y="0"/>
            <a:chExt cx="4509804" cy="22251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09804" cy="2225183"/>
            </a:xfrm>
            <a:custGeom>
              <a:avLst/>
              <a:gdLst/>
              <a:ahLst/>
              <a:cxnLst/>
              <a:rect l="l" t="t" r="r" b="b"/>
              <a:pathLst>
                <a:path w="4509804" h="2225183">
                  <a:moveTo>
                    <a:pt x="0" y="0"/>
                  </a:moveTo>
                  <a:lnTo>
                    <a:pt x="4509804" y="0"/>
                  </a:lnTo>
                  <a:lnTo>
                    <a:pt x="4509804" y="2225183"/>
                  </a:lnTo>
                  <a:lnTo>
                    <a:pt x="0" y="2225183"/>
                  </a:ln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509804" cy="228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29585" y="1832550"/>
            <a:ext cx="15829715" cy="694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spc="1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[1] H. Hapuarachchi, Q. Wang, and T. Pagano, “A review of advances in f lash flood forecasting,” Hydrological processes, vol. 25, no. 18, pp. 2771–2784, 2011.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spc="1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[2] A. Wannachai, S. Aramkul, B. Suntaranont, Y. Somchit, and P. Cham prasert, “Hero: Hybrid effortless resilient operation stations for flash f lood early warning systems,” Sensors, vol. 22, no. 11, p. 4108, 2022.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spc="1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[3] S. Zhong, C. Wang, Z. Yu, Y. Yang, and Q. Huang, “Spatiotemporal exploration and hazard mapping of tropical cyclones along the coastline of china,” Advances in Meteorology, vol. 2018, 2018.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spc="1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[4] C. Hu, Q. Wu, H. Li, S. Jian, N. Li, and Z. Lou, “Deep learning with a long short-term memory networks approach for rainfall-runoff simulation,” Water, vol. 10, no. 11, p. 1543, 2018.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spc="1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[5] Z. Fang, Y. Wang, L. Peng, and H. Hong, “Predicting flood susceptibility using lstm neural networks,” Journal of Hydrology, vol. 594, p. 125734, 2021.</a:t>
            </a:r>
          </a:p>
        </p:txBody>
      </p:sp>
      <p:sp>
        <p:nvSpPr>
          <p:cNvPr id="10" name="Freeform 10"/>
          <p:cNvSpPr/>
          <p:nvPr/>
        </p:nvSpPr>
        <p:spPr>
          <a:xfrm rot="5324316">
            <a:off x="15197540" y="-4281063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6773688" y="0"/>
            <a:ext cx="1514312" cy="1301362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906617" y="249862"/>
            <a:ext cx="6190983" cy="105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3"/>
              </a:lnSpc>
              <a:spcBef>
                <a:spcPct val="0"/>
              </a:spcBef>
            </a:pPr>
            <a:r>
              <a:rPr lang="en-US" sz="5852" spc="380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75683">
            <a:off x="-3331216" y="7818697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-10800000">
            <a:off x="226005" y="7883216"/>
            <a:ext cx="1514312" cy="1301362"/>
            <a:chOff x="0" y="0"/>
            <a:chExt cx="812800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43585" y="2725087"/>
            <a:ext cx="8800830" cy="4836826"/>
            <a:chOff x="0" y="0"/>
            <a:chExt cx="2317914" cy="12738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17914" cy="1273897"/>
            </a:xfrm>
            <a:custGeom>
              <a:avLst/>
              <a:gdLst/>
              <a:ahLst/>
              <a:cxnLst/>
              <a:rect l="l" t="t" r="r" b="b"/>
              <a:pathLst>
                <a:path w="2317914" h="1273897">
                  <a:moveTo>
                    <a:pt x="0" y="0"/>
                  </a:moveTo>
                  <a:lnTo>
                    <a:pt x="2317914" y="0"/>
                  </a:lnTo>
                  <a:lnTo>
                    <a:pt x="2317914" y="1273897"/>
                  </a:lnTo>
                  <a:lnTo>
                    <a:pt x="0" y="12738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317914" cy="1331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160480" y="2596174"/>
            <a:ext cx="9967041" cy="283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74"/>
              </a:lnSpc>
              <a:spcBef>
                <a:spcPct val="0"/>
              </a:spcBef>
            </a:pPr>
            <a:r>
              <a:rPr lang="en-US" sz="15696" spc="102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8898" y="4393888"/>
            <a:ext cx="11070203" cy="283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74"/>
              </a:lnSpc>
              <a:spcBef>
                <a:spcPct val="0"/>
              </a:spcBef>
            </a:pPr>
            <a:r>
              <a:rPr lang="en-US" sz="156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1250</Words>
  <Application>Microsoft Office PowerPoint</Application>
  <PresentationFormat>Custom</PresentationFormat>
  <Paragraphs>108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Poppins Medium</vt:lpstr>
      <vt:lpstr>Poppins</vt:lpstr>
      <vt:lpstr>Poppins Light</vt:lpstr>
      <vt:lpstr>Poppins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- Flood Detection using Machine Learning</dc:title>
  <cp:lastModifiedBy>Anagh Kulkarni</cp:lastModifiedBy>
  <cp:revision>1</cp:revision>
  <dcterms:created xsi:type="dcterms:W3CDTF">2006-08-16T00:00:00Z</dcterms:created>
  <dcterms:modified xsi:type="dcterms:W3CDTF">2026-01-28T03:05:03Z</dcterms:modified>
  <dc:identifier>DAGNVq7r6Uo</dc:identifier>
</cp:coreProperties>
</file>